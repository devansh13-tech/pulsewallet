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91" r:id="rId2"/>
    <p:sldId id="281" r:id="rId3"/>
    <p:sldId id="307" r:id="rId4"/>
    <p:sldId id="303" r:id="rId5"/>
    <p:sldId id="304" r:id="rId6"/>
    <p:sldId id="299" r:id="rId7"/>
    <p:sldId id="302" r:id="rId8"/>
    <p:sldId id="310" r:id="rId9"/>
    <p:sldId id="301" r:id="rId10"/>
    <p:sldId id="309" r:id="rId11"/>
    <p:sldId id="312" r:id="rId12"/>
    <p:sldId id="306" r:id="rId13"/>
    <p:sldId id="305" r:id="rId14"/>
    <p:sldId id="308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napToObjects="1">
      <p:cViewPr>
        <p:scale>
          <a:sx n="92" d="100"/>
          <a:sy n="92" d="100"/>
        </p:scale>
        <p:origin x="106" y="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26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88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30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62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38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51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14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13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17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11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10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092909" y="542562"/>
            <a:ext cx="529047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2600" b="1" dirty="0"/>
              <a:t>Semester Project - III</a:t>
            </a:r>
            <a:endParaRPr kumimoji="0" lang="en-US" sz="28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Cambria" panose="02040503050406030204" pitchFamily="18" charset="0"/>
            </a:endParaRPr>
          </a:p>
          <a:p>
            <a:pPr algn="ctr">
              <a:buNone/>
            </a:pPr>
            <a:r>
              <a:rPr sz="3000" b="1" dirty="0"/>
              <a:t>“</a:t>
            </a:r>
            <a:r>
              <a:rPr sz="3000" b="1" dirty="0" err="1"/>
              <a:t>PulseWallet</a:t>
            </a:r>
            <a:r>
              <a:rPr sz="3000" b="1" dirty="0"/>
              <a:t>”</a:t>
            </a:r>
          </a:p>
          <a:p>
            <a:pPr algn="ctr">
              <a:buNone/>
            </a:pPr>
            <a:r>
              <a:rPr sz="1500" b="0" dirty="0"/>
              <a:t>Personal Financial Planning &amp; Fraud Detection System</a:t>
            </a:r>
          </a:p>
          <a:p>
            <a:pPr algn="ctr">
              <a:buNone/>
            </a:pPr>
            <a:r>
              <a:rPr sz="1300" b="0" dirty="0"/>
              <a:t>By</a:t>
            </a:r>
          </a:p>
          <a:p>
            <a:pPr algn="ctr">
              <a:buNone/>
            </a:pPr>
            <a:r>
              <a:rPr sz="1300" b="0" dirty="0"/>
              <a:t>1. </a:t>
            </a:r>
            <a:r>
              <a:rPr lang="en-IN" sz="1300" dirty="0"/>
              <a:t>Devansh Chaudhary- 241106029</a:t>
            </a:r>
            <a:endParaRPr sz="1300" b="0" dirty="0"/>
          </a:p>
          <a:p>
            <a:pPr algn="ctr">
              <a:buNone/>
            </a:pPr>
            <a:r>
              <a:rPr sz="1300" b="0" dirty="0"/>
              <a:t>2. </a:t>
            </a:r>
            <a:r>
              <a:rPr lang="en-IN" sz="1300" dirty="0"/>
              <a:t>Sakshi Shimpi-241106103</a:t>
            </a:r>
            <a:endParaRPr sz="1300" b="0" dirty="0"/>
          </a:p>
          <a:p>
            <a:pPr algn="ctr">
              <a:buNone/>
            </a:pPr>
            <a:r>
              <a:rPr sz="1300" b="0" dirty="0"/>
              <a:t>3. </a:t>
            </a:r>
            <a:r>
              <a:rPr lang="en-IN" sz="1300" dirty="0"/>
              <a:t>Shubham Wagh-241106113</a:t>
            </a:r>
            <a:endParaRPr sz="1300" b="0" dirty="0"/>
          </a:p>
          <a:p>
            <a:pPr algn="ctr">
              <a:buNone/>
            </a:pPr>
            <a:r>
              <a:rPr sz="1300" b="0" dirty="0"/>
              <a:t>4</a:t>
            </a:r>
            <a:r>
              <a:rPr lang="en-IN" sz="1300" dirty="0"/>
              <a:t>. Utkarsh Mahajan-241106115</a:t>
            </a:r>
            <a:endParaRPr sz="1300" b="0" dirty="0"/>
          </a:p>
          <a:p>
            <a:pPr algn="ctr">
              <a:buNone/>
            </a:pPr>
            <a:r>
              <a:rPr sz="1300" b="0" dirty="0"/>
              <a:t>Under the Guidance of</a:t>
            </a:r>
          </a:p>
          <a:p>
            <a:pPr algn="ctr">
              <a:buNone/>
            </a:pPr>
            <a:r>
              <a:rPr lang="en-IN" sz="1300" b="1" dirty="0"/>
              <a:t>Dr. P. K. Patil</a:t>
            </a:r>
            <a:endParaRPr sz="1300" b="1" dirty="0"/>
          </a:p>
        </p:txBody>
      </p:sp>
      <p:pic>
        <p:nvPicPr>
          <p:cNvPr id="9" name="Picture 1" descr="SE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70" y="3366654"/>
            <a:ext cx="2480949" cy="217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462540" y="5537035"/>
            <a:ext cx="7365863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cs typeface="Arial" panose="020B0604020202020204" pitchFamily="34" charset="0"/>
              </a:rPr>
              <a:t>Department of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Computer Science &amp; Engineering (Data Science)</a:t>
            </a:r>
            <a:endParaRPr kumimoji="0" lang="en-US" sz="22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Ajile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Shirpur Education Society’s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Shirpur - 425405.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[2026-27]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76913" y="130628"/>
            <a:ext cx="10972800" cy="881743"/>
          </a:xfrm>
        </p:spPr>
        <p:txBody>
          <a:bodyPr/>
          <a:lstStyle/>
          <a:p>
            <a:r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15362" name="TextBox 15361"/>
          <p:cNvSpPr txBox="1"/>
          <p:nvPr/>
        </p:nvSpPr>
        <p:spPr>
          <a:xfrm>
            <a:off x="914400" y="1600200"/>
            <a:ext cx="103632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Problem Statement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Objectives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Literature Survey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Proposed Solution &amp; System Architecture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Dataset (Fraud Detection Model)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Technical Approach &amp; Methodology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Tools and Technologies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Expected Results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Limitations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Conclusion</a:t>
            </a:r>
          </a:p>
          <a:p>
            <a:pPr marL="342900" indent="-342900">
              <a:spcAft>
                <a:spcPts val="800"/>
              </a:spcAft>
              <a:buFont typeface="Arial"/>
              <a:buChar char="•"/>
            </a:pPr>
            <a:r>
              <a:rPr sz="2000" b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683921"/>
            <a:ext cx="1219199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800" b="1">
                <a:solidFill>
                  <a:srgbClr val="1E2761"/>
                </a:solidFill>
              </a:rPr>
              <a:t>Problem Statement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People manage income, expenses, budgets and savings goals across scattered apps and spreadsheets, with no single view of their finances — and transaction fraud is usually discovered only after money is lost.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42257" y="2952057"/>
            <a:ext cx="109728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600" b="1"/>
              <a:t>What: </a:t>
            </a:r>
            <a:r>
              <a:rPr sz="1600" b="0"/>
              <a:t>No unified platform combines financial planning with real-time fraud protection.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600" b="1"/>
              <a:t>Who: </a:t>
            </a:r>
            <a:r>
              <a:rPr sz="1600" b="0"/>
              <a:t>Everyday users managing bank accounts, UPI and cards across multiple apps.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600" b="1"/>
              <a:t>Why: </a:t>
            </a:r>
            <a:r>
              <a:rPr sz="1600" b="0"/>
              <a:t>Delayed fraud detection and fragmented planning tools cause financial loss and poor money habits.</a:t>
            </a:r>
          </a:p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sz="1600" b="1"/>
              <a:t>How: </a:t>
            </a:r>
            <a:r>
              <a:rPr sz="1600" b="0"/>
              <a:t>PulseWallet integrates a financial-planning engine with an XGBoost-based fraud detection service to flag risky transactions in real time and guide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366017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640378"/>
            <a:ext cx="1219199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800" b="1">
                <a:solidFill>
                  <a:srgbClr val="1E2761"/>
                </a:solidFill>
              </a:rPr>
              <a:t>Objectives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Build a secure Spring Boot + PostgreSQL backend with JWT authentication for user-specific financial data.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Deliver a financial-planning engine that produces budgets, spending forecasts, and savings/investment recommendations.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Design and integrate an XGBoost-based fraud detection microservice that scores every transaction and raises real-time alerts.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Enable goal-based savings planning, credit-card intelligence and a purchase advisor.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Validate the system through backend/frontend testing and ship a redesigned frontend dashboard.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</p:spTree>
    <p:extLst>
      <p:ext uri="{BB962C8B-B14F-4D97-AF65-F5344CB8AC3E}">
        <p14:creationId xmlns:p14="http://schemas.microsoft.com/office/powerpoint/2010/main" val="247599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Literature Survey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292035"/>
            <a:ext cx="1219199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1800" b="0"/>
              <a:t>Consumer apps such as Mint and YNAB focus on manual budgeting and spend tracking, with little predictive planning.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Fraud checks in most banking systems are static, rule-based thresholds rather than adaptive ML models.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Financial planning and fraud protection are usually offered as separate, disconnected tools.</a:t>
            </a:r>
          </a:p>
          <a:p>
            <a:pPr marL="342900" indent="-342900">
              <a:buFont typeface="Arial"/>
              <a:buChar char="•"/>
            </a:pPr>
            <a:r>
              <a:rPr sz="1800" b="0"/>
              <a:t>PulseWallet differs by combining planning, goal/credit intelligence and an XGBoost fraud-detection service that feeds real-time alerts directly into the same platform.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</p:spTree>
    <p:extLst>
      <p:ext uri="{BB962C8B-B14F-4D97-AF65-F5344CB8AC3E}">
        <p14:creationId xmlns:p14="http://schemas.microsoft.com/office/powerpoint/2010/main" val="381897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1" y="818426"/>
            <a:ext cx="12191999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400" b="1">
                <a:solidFill>
                  <a:srgbClr val="1E2761"/>
                </a:solidFill>
              </a:rPr>
              <a:t>Proposed Solution — System Architecture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sz="1400"/>
              <a:t>PulseWallet pairs a Spring Boot backend with a FastAPI + XGBoost fraud-detection microservice for real-time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7584" y="2148840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PULSEWALLET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39" y="2697480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E2761"/>
                </a:solidFill>
              </a:rPr>
              <a:t>React 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19" y="2697480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1E2761"/>
                </a:solidFill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19" y="3246120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XGBoost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3264" y="379476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5964" y="4343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REST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6204" y="4343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Business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16444" y="4343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3264" y="489204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Spring Data JPA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3264" y="5440679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PostgreSQL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566160" y="2514600"/>
            <a:ext cx="2255824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70624" y="2514600"/>
            <a:ext cx="2407616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66160" y="3063240"/>
            <a:ext cx="2255824" cy="73152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78240" y="3063240"/>
            <a:ext cx="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370624" y="3611880"/>
            <a:ext cx="2407616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176064" y="4160520"/>
            <a:ext cx="192024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304" y="4160520"/>
            <a:ext cx="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304" y="4160520"/>
            <a:ext cx="192024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176064" y="4709160"/>
            <a:ext cx="192024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304" y="4709160"/>
            <a:ext cx="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96304" y="4709160"/>
            <a:ext cx="1920240" cy="18288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96304" y="5257800"/>
            <a:ext cx="0" cy="182879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18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595349"/>
            <a:ext cx="12191999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Aft>
                <a:spcPts val="600"/>
              </a:spcAft>
              <a:buFont typeface="Wingdings"/>
              <a:buChar char="v"/>
            </a:pPr>
            <a:r>
              <a:rPr sz="2600" b="1">
                <a:solidFill>
                  <a:srgbClr val="1E2761"/>
                </a:solidFill>
              </a:rPr>
              <a:t>Dataset (Fraud Detection Model)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Source: a public credit-card transaction fraud dataset used to train and evaluate the fraud-detection model.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Size &amp; features: anonymized transaction records with amount, time and numerical features, strongly imbalanced (fraud is a small minority of transactions).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Preprocessing: feature scaling/normalization, class-imbalance handling, and a train/test split.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EDA &amp; model selection: Random Forest and XGBoost were both trained and compared; XGBoost was selected as the production model for its precision/recall trade-off on imbalanced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</p:spTree>
    <p:extLst>
      <p:ext uri="{BB962C8B-B14F-4D97-AF65-F5344CB8AC3E}">
        <p14:creationId xmlns:p14="http://schemas.microsoft.com/office/powerpoint/2010/main" val="224900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-19513" y="1519079"/>
            <a:ext cx="4815958" cy="273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700" b="1" dirty="0"/>
              <a:t>Fraud detection pipeline (see flow below): each transaction is scored by the trained model and converted into a risk level that can trigger an alert.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500" b="0" dirty="0"/>
              <a:t>Algorithms evaluated: Random Forest and </a:t>
            </a:r>
            <a:r>
              <a:rPr sz="1500" b="0" dirty="0" err="1"/>
              <a:t>XGBoost</a:t>
            </a:r>
            <a:r>
              <a:rPr sz="1500" b="0" dirty="0"/>
              <a:t>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500" b="0" dirty="0"/>
              <a:t>Selected model: </a:t>
            </a:r>
            <a:r>
              <a:rPr sz="1500" b="0" dirty="0" err="1"/>
              <a:t>XGBoost</a:t>
            </a:r>
            <a:r>
              <a:rPr sz="1500" b="0" dirty="0"/>
              <a:t> — chosen for stronger performance on the imbalanced fraud dataset and fast inference inside the </a:t>
            </a:r>
            <a:r>
              <a:rPr sz="1500" b="0" dirty="0" err="1"/>
              <a:t>FastAPI</a:t>
            </a:r>
            <a:r>
              <a:rPr sz="1500" b="0" dirty="0"/>
              <a:t> service.</a:t>
            </a:r>
          </a:p>
        </p:txBody>
      </p:sp>
      <p:sp>
        <p:nvSpPr>
          <p:cNvPr id="15362" name="Rounded Rectangle 15361"/>
          <p:cNvSpPr/>
          <p:nvPr/>
        </p:nvSpPr>
        <p:spPr>
          <a:xfrm>
            <a:off x="7319498" y="38404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E2761"/>
                </a:solidFill>
              </a:rPr>
              <a:t>Transaction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070860" y="429768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Risk Score /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Level</a:t>
            </a:r>
          </a:p>
        </p:txBody>
      </p:sp>
      <p:cxnSp>
        <p:nvCxnSpPr>
          <p:cNvPr id="15371" name="Connector 15370"/>
          <p:cNvCxnSpPr/>
          <p:nvPr/>
        </p:nvCxnSpPr>
        <p:spPr>
          <a:xfrm>
            <a:off x="7881945" y="4754880"/>
            <a:ext cx="188915" cy="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2" name="Connector 15371"/>
          <p:cNvCxnSpPr/>
          <p:nvPr/>
        </p:nvCxnSpPr>
        <p:spPr>
          <a:xfrm>
            <a:off x="9762500" y="4754880"/>
            <a:ext cx="188915" cy="0"/>
          </a:xfrm>
          <a:prstGeom prst="line">
            <a:avLst/>
          </a:prstGeom>
          <a:ln w="25400">
            <a:solidFill>
              <a:srgbClr val="2F3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91F9E32-2D38-C767-FB65-0C9626C98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745" y="1300941"/>
            <a:ext cx="4811869" cy="480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17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9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402771" y="1625711"/>
            <a:ext cx="12191999" cy="7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/>
              <a:buChar char="v"/>
            </a:pPr>
            <a:r>
              <a:rPr sz="2600" b="1">
                <a:solidFill>
                  <a:srgbClr val="1E2761"/>
                </a:solidFill>
              </a:rPr>
              <a:t>Tools and Technologies</a:t>
            </a:r>
          </a:p>
        </p:txBody>
      </p:sp>
      <p:sp>
        <p:nvSpPr>
          <p:cNvPr id="15362" name="Rounded Rectangle 15361"/>
          <p:cNvSpPr/>
          <p:nvPr/>
        </p:nvSpPr>
        <p:spPr>
          <a:xfrm>
            <a:off x="502920" y="21945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solidFill>
              <a:srgbClr val="F2F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1E2761"/>
                </a:solidFill>
              </a:rPr>
              <a:t>Backend</a:t>
            </a:r>
          </a:p>
          <a:p>
            <a:r>
              <a:rPr sz="1200">
                <a:solidFill>
                  <a:srgbClr val="333333"/>
                </a:solidFill>
              </a:rPr>
              <a:t>Java, Spring Boot 4.1, Spring Security + JWT, Maven, Git/GitHub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297680" y="21945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solidFill>
              <a:srgbClr val="F2F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1E2761"/>
                </a:solidFill>
              </a:rPr>
              <a:t>Database</a:t>
            </a:r>
          </a:p>
          <a:p>
            <a:r>
              <a:rPr sz="1200">
                <a:solidFill>
                  <a:srgbClr val="333333"/>
                </a:solidFill>
              </a:rPr>
              <a:t>PostgreSQL 17, Spring Data JPA / Hibernate, Flyway migrations (V1–V13)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092440" y="21945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solidFill>
              <a:srgbClr val="F2F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1E2761"/>
                </a:solidFill>
              </a:rPr>
              <a:t>Fraud ML</a:t>
            </a:r>
          </a:p>
          <a:p>
            <a:r>
              <a:rPr sz="1200">
                <a:solidFill>
                  <a:srgbClr val="333333"/>
                </a:solidFill>
              </a:rPr>
              <a:t>Python, XGBoost + scikit-learn, Pandas / NumPy, served via FastAPI (/fraud-check)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40233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solidFill>
              <a:srgbClr val="F2F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1E2761"/>
                </a:solidFill>
              </a:rPr>
              <a:t>Frontend</a:t>
            </a:r>
          </a:p>
          <a:p>
            <a:r>
              <a:rPr sz="1200">
                <a:solidFill>
                  <a:srgbClr val="333333"/>
                </a:solidFill>
              </a:rPr>
              <a:t>React + JavaScript/JSX with Vite, Chart.js for financial visualizations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297680" y="402336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>
            <a:solidFill>
              <a:srgbClr val="F2F5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500" b="1">
                <a:solidFill>
                  <a:srgbClr val="1E2761"/>
                </a:solidFill>
              </a:rPr>
              <a:t>Integration</a:t>
            </a:r>
          </a:p>
          <a:p>
            <a:r>
              <a:rPr sz="1200">
                <a:solidFill>
                  <a:srgbClr val="333333"/>
                </a:solidFill>
              </a:rPr>
              <a:t>REST + JSON linking the React frontend, Spring Boot backend, and FastAPI fraud service</a:t>
            </a:r>
          </a:p>
        </p:txBody>
      </p:sp>
    </p:spTree>
    <p:extLst>
      <p:ext uri="{BB962C8B-B14F-4D97-AF65-F5344CB8AC3E}">
        <p14:creationId xmlns:p14="http://schemas.microsoft.com/office/powerpoint/2010/main" val="3965545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Expected 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10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15362" name="TextBox 15361"/>
          <p:cNvSpPr txBox="1"/>
          <p:nvPr/>
        </p:nvSpPr>
        <p:spPr>
          <a:xfrm>
            <a:off x="642257" y="1600000"/>
            <a:ext cx="109728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Real-time fraud alerts when a transaction's risk score crosses a configurable threshold.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Personalized financial planning: budget recommendations, spending forecasts, and savings/investment suggestions.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Goal tracking with automatic monthly-saving calculations, plus credit-card utilization insights and purchase-advisor recommendations.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Verified through testing: 149 backend tests passing (0 failures, 0 errors) and a successful frontend build.</a:t>
            </a:r>
          </a:p>
        </p:txBody>
      </p:sp>
    </p:spTree>
    <p:extLst>
      <p:ext uri="{BB962C8B-B14F-4D97-AF65-F5344CB8AC3E}">
        <p14:creationId xmlns:p14="http://schemas.microsoft.com/office/powerpoint/2010/main" val="296378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Limitations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15362" name="TextBox 15361"/>
          <p:cNvSpPr txBox="1"/>
          <p:nvPr/>
        </p:nvSpPr>
        <p:spPr>
          <a:xfrm>
            <a:off x="642257" y="1600000"/>
            <a:ext cx="109728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Linked Payment Accounts is currently a connection-management foundation, not a live PhonePe/Google Pay/bank login integration.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The fraud model is trained on a public dataset, so real-world transaction patterns may differ and periodic retraining is needed.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Class imbalance in fraud data can reduce recall on rare fraud patterns not well represented in training.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800"/>
              <a:t>The frontend (currently React) is being redesigned into plain HTML/CSS/vanilla JavaScript, so UI/UX polish is in progress.</a:t>
            </a:r>
          </a:p>
        </p:txBody>
      </p:sp>
    </p:spTree>
    <p:extLst>
      <p:ext uri="{BB962C8B-B14F-4D97-AF65-F5344CB8AC3E}">
        <p14:creationId xmlns:p14="http://schemas.microsoft.com/office/powerpoint/2010/main" val="105691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402771" y="1625711"/>
            <a:ext cx="1143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/>
              <a:t>PulseWallet is a personal financial planning and transaction fraud detection system. The backend (Java Spring Boot + PostgreSQL) provides secure authentication and transaction management, with a financial-planning engine for budgeting, forecasting, savings and goal-based recommendations.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600" b="0"/>
              <a:t>A separate FastAPI + XGBoost machine-learning service performs fraud detection and is integrated with the backend to raise real-time alerts. On top of this, PulseWallet adds credit-card intelligence, a purchase advisor, and linked payment-account management, all surfaced through a React frontend dashboard.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600" b="1"/>
              <a:t>Status: all major modules through Linked Payment Accounts are implemented and verified (149 backend tests passing); the frontend is now being redesigned.</a:t>
            </a:r>
          </a:p>
        </p:txBody>
      </p:sp>
    </p:spTree>
    <p:extLst>
      <p:ext uri="{BB962C8B-B14F-4D97-AF65-F5344CB8AC3E}">
        <p14:creationId xmlns:p14="http://schemas.microsoft.com/office/powerpoint/2010/main" val="1974218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402771" y="1625711"/>
            <a:ext cx="1143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1600" b="1"/>
              <a:t>Finexa — IEEE, 2026: </a:t>
            </a:r>
            <a:r>
              <a:rPr sz="1600" b="0"/>
              <a:t>personal finance, goal-based planning and budgeting, informing PulseWallet's financial-planning engine.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600" b="1"/>
              <a:t>A Comprehensive Review of ML Techniques for Intelligent Personal Finance Management Systems — 2026: </a:t>
            </a:r>
            <a:r>
              <a:rPr sz="1600" b="0"/>
              <a:t>research gap and integration approach for combining planning with ML-based intelligence.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600" b="1"/>
              <a:t>XGBoost + SMOTE for Credit Card Fraud Detection — IEEE, 2024: </a:t>
            </a:r>
            <a:r>
              <a:rPr sz="1600" b="0"/>
              <a:t>basis for our fraud-detection methodology, including class-imbalance handling.</a:t>
            </a:r>
          </a:p>
          <a:p>
            <a:pPr marL="342900" indent="-342900">
              <a:spcAft>
                <a:spcPts val="1200"/>
              </a:spcAft>
              <a:buFont typeface="Arial"/>
              <a:buChar char="•"/>
            </a:pPr>
            <a:r>
              <a:rPr sz="1600" b="1"/>
              <a:t>XGBoost with Bayesian Optimization for Fraud Detection — 2025: </a:t>
            </a:r>
            <a:r>
              <a:rPr sz="1600" b="0"/>
              <a:t>recent XGBoost fraud-detection research informing model tuning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097758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Things you have to bring in folder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r>
              <a:t>PulseWallet</a:t>
            </a: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402771" y="1625711"/>
            <a:ext cx="114300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800" b="0"/>
              <a:t>Folder Name — Group No.03_PulseWallet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Reference papers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Dataset (fraud-detection dataset, along with download link)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PPT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1800" b="0"/>
              <a:t>Single Word copy containing:</a:t>
            </a:r>
          </a:p>
          <a:p>
            <a:pPr>
              <a:spcAft>
                <a:spcPts val="600"/>
              </a:spcAft>
              <a:buNone/>
            </a:pPr>
            <a:r>
              <a:rPr sz="1600" b="0"/>
              <a:t>   ✓ Abstract soft copy (hard copy already submitted)</a:t>
            </a:r>
          </a:p>
          <a:p>
            <a:pPr>
              <a:spcAft>
                <a:spcPts val="600"/>
              </a:spcAft>
              <a:buNone/>
            </a:pPr>
            <a:r>
              <a:rPr sz="1600" b="0"/>
              <a:t>   ✓ Project objectives</a:t>
            </a:r>
          </a:p>
          <a:p>
            <a:pPr>
              <a:spcAft>
                <a:spcPts val="600"/>
              </a:spcAft>
              <a:buNone/>
            </a:pPr>
            <a:r>
              <a:rPr sz="1600" b="0"/>
              <a:t>   ✓ Methodology diagram</a:t>
            </a:r>
          </a:p>
        </p:txBody>
      </p:sp>
    </p:spTree>
    <p:extLst>
      <p:ext uri="{BB962C8B-B14F-4D97-AF65-F5344CB8AC3E}">
        <p14:creationId xmlns:p14="http://schemas.microsoft.com/office/powerpoint/2010/main" val="57844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7612</TotalTime>
  <Words>1114</Words>
  <Application>Microsoft Office PowerPoint</Application>
  <PresentationFormat>Widescreen</PresentationFormat>
  <Paragraphs>148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Ajile</vt:lpstr>
      <vt:lpstr>Arial</vt:lpstr>
      <vt:lpstr>Calibri</vt:lpstr>
      <vt:lpstr>Cambria</vt:lpstr>
      <vt:lpstr>TradeGothic</vt:lpstr>
      <vt:lpstr>Wingdings</vt:lpstr>
      <vt:lpstr>Office Theme</vt:lpstr>
      <vt:lpstr>PowerPoint Presentation</vt:lpstr>
      <vt:lpstr>Outline</vt:lpstr>
      <vt:lpstr>PulseWallet</vt:lpstr>
      <vt:lpstr>PulseWallet</vt:lpstr>
      <vt:lpstr>Literature Survey</vt:lpstr>
      <vt:lpstr>PowerPoint Presentation</vt:lpstr>
      <vt:lpstr>PowerPoint Presentation</vt:lpstr>
      <vt:lpstr>Technical Approach</vt:lpstr>
      <vt:lpstr>Technical Approach</vt:lpstr>
      <vt:lpstr>Expected Results</vt:lpstr>
      <vt:lpstr>Limitations</vt:lpstr>
      <vt:lpstr>Conclusion</vt:lpstr>
      <vt:lpstr>References</vt:lpstr>
      <vt:lpstr>Things you have to bring in folder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Devansh Chaudhari</cp:lastModifiedBy>
  <cp:revision>209</cp:revision>
  <dcterms:created xsi:type="dcterms:W3CDTF">2013-12-12T18:46:50Z</dcterms:created>
  <dcterms:modified xsi:type="dcterms:W3CDTF">2026-09-12T09:44:54Z</dcterms:modified>
  <cp:category/>
</cp:coreProperties>
</file>